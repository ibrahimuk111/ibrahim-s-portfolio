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" y="1128395"/>
            <a:ext cx="7955280" cy="2077720"/>
          </a:xfrm>
        </p:spPr>
        <p:txBody>
          <a:bodyPr/>
          <a:lstStyle/>
          <a:p>
            <a:r>
              <a:rPr b="1"/>
              <a:t>Heart Disease Prediction Using Logistic Regression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5510" y="3784600"/>
            <a:ext cx="6991985" cy="2296795"/>
          </a:xfrm>
        </p:spPr>
        <p:txBody>
          <a:bodyPr>
            <a:normAutofit fontScale="90000"/>
          </a:bodyPr>
          <a:lstStyle/>
          <a:p>
            <a:r>
              <a:rPr b="1">
                <a:solidFill>
                  <a:schemeClr val="tx1"/>
                </a:solidFill>
              </a:rPr>
              <a:t>Submitted by: Muhammad Ibrahim</a:t>
            </a:r>
            <a:endParaRPr b="1">
              <a:solidFill>
                <a:schemeClr val="tx1"/>
              </a:solidFill>
            </a:endParaRPr>
          </a:p>
          <a:p>
            <a:r>
              <a:rPr b="1">
                <a:solidFill>
                  <a:schemeClr val="tx1"/>
                </a:solidFill>
              </a:rPr>
              <a:t>Roll No: 24-MS-DS-10</a:t>
            </a:r>
            <a:endParaRPr b="1">
              <a:solidFill>
                <a:schemeClr val="tx1"/>
              </a:solidFill>
            </a:endParaRPr>
          </a:p>
          <a:p>
            <a:r>
              <a:rPr b="1">
                <a:solidFill>
                  <a:schemeClr val="tx1"/>
                </a:solidFill>
              </a:rPr>
              <a:t>Course: Statistical and Mathematical Methods In Data Science</a:t>
            </a:r>
            <a:endParaRPr b="1">
              <a:solidFill>
                <a:schemeClr val="tx1"/>
              </a:solidFill>
            </a:endParaRPr>
          </a:p>
        </p:txBody>
      </p:sp>
      <p:pic>
        <p:nvPicPr>
          <p:cNvPr id="4" name="Picture 3" descr="333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095" y="2747010"/>
            <a:ext cx="2456180" cy="996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Cardiovascular diseases (CVDs) are a major cause of mortality worldwide.</a:t>
            </a:r>
          </a:p>
          <a:p>
            <a:r>
              <a:t>Early detection is crucial for prevention and timely intervention.</a:t>
            </a:r>
          </a:p>
          <a:p>
            <a:r>
              <a:t>This project applies logistic regression to predict heart disease using clinical data.</a:t>
            </a:r>
          </a:p>
          <a:p>
            <a:r>
              <a:t>The model aims to assist healthcare professionals in making informed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UCI Heart Disease Dataset (303 records, 14 features).</a:t>
            </a:r>
          </a:p>
          <a:p>
            <a:r>
              <a:t>ETL Process: Extract, Transform, Load clinical data.</a:t>
            </a:r>
          </a:p>
          <a:p>
            <a:r>
              <a:t>Model: Logistic Regression trained for classification.</a:t>
            </a:r>
          </a:p>
          <a:p>
            <a:r>
              <a:t>Performance Metrics: Accuracy, Precision, Recall, AUC-ROC.</a:t>
            </a:r>
          </a:p>
          <a:p>
            <a:r>
              <a:t>Objective: Identify key predictors of heart disease.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Process &amp;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Extract: UCI Heart Disease Dataset acquired.</a:t>
            </a:r>
          </a:p>
          <a:p>
            <a:r>
              <a:t>Transform: Handled missing values, encoded categorical variables, scaled numerical features.</a:t>
            </a:r>
          </a:p>
          <a:p>
            <a:r>
              <a:t>Load: Processed data fed into logistic regression model.</a:t>
            </a:r>
          </a:p>
          <a:p>
            <a:r>
              <a:t>Key Features: Age, Sex, Cholesterol, Thalach, Oldpeak.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Correlation Heatmap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endParaRPr lang="en-US"/>
          </a:p>
        </p:txBody>
      </p:sp>
      <p:pic>
        <p:nvPicPr>
          <p:cNvPr id="4" name="Picture 2" descr="WhatsApp Image 2025-01-09 at 9.59.1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0" y="1836420"/>
            <a:ext cx="7289165" cy="32683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032000" y="3251835"/>
            <a:ext cx="5080000" cy="2546985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r>
              <a:rPr sz="1600" b="1" i="1">
                <a:latin typeface="Times New Roman" panose="02020603050405020304"/>
                <a:ea typeface="Aptos"/>
              </a:rPr>
              <a:t>Correlation Heatmap of Clinical Features</a:t>
            </a:r>
            <a:endParaRPr sz="1600" b="1" i="1">
              <a:latin typeface="Times New Roman" panose="02020603050405020304"/>
              <a:ea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Target Variable Distribution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endParaRPr lang="en-US" altLang="en-US" b="1"/>
          </a:p>
          <a:p>
            <a:endParaRPr lang="en-US" altLang="en-US" b="1"/>
          </a:p>
          <a:p>
            <a:endParaRPr lang="en-US" altLang="en-US" b="1"/>
          </a:p>
          <a:p>
            <a:endParaRPr lang="en-US" altLang="en-US" b="1"/>
          </a:p>
          <a:p>
            <a:endParaRPr lang="en-US" altLang="en-US" b="1"/>
          </a:p>
          <a:p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 sz="1555" b="1"/>
              <a:t>                              Distribution of Target Variable Presence of Heart Disease</a:t>
            </a:r>
            <a:endParaRPr lang="en-US" altLang="en-US" sz="1555" b="1"/>
          </a:p>
        </p:txBody>
      </p:sp>
      <p:pic>
        <p:nvPicPr>
          <p:cNvPr id="682521896" name="Picture 1" descr="A graph with blue squares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65" y="1417955"/>
            <a:ext cx="7165975" cy="3629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Categorical Feature Distributions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 </a:t>
            </a:r>
            <a:endParaRPr lang="en-US"/>
          </a:p>
        </p:txBody>
      </p:sp>
      <p:pic>
        <p:nvPicPr>
          <p:cNvPr id="960350154" name="Picture 3" descr="A graph of different colored bars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" y="1145540"/>
            <a:ext cx="6388100" cy="2010410"/>
          </a:xfrm>
          <a:prstGeom prst="rect">
            <a:avLst/>
          </a:prstGeom>
        </p:spPr>
      </p:pic>
      <p:pic>
        <p:nvPicPr>
          <p:cNvPr id="4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75" y="3428365"/>
            <a:ext cx="6388100" cy="23171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73505" y="3387725"/>
            <a:ext cx="5080000" cy="3329940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endParaRPr lang="en-US" sz="1600" b="1" i="1">
              <a:latin typeface="Times New Roman" panose="02020603050405020304"/>
              <a:ea typeface="Aptos"/>
            </a:endParaRPr>
          </a:p>
          <a:p>
            <a:pPr defTabSz="266700">
              <a:lnSpc>
                <a:spcPct val="107000"/>
              </a:lnSpc>
              <a:spcAft>
                <a:spcPts val="800"/>
              </a:spcAft>
            </a:pPr>
            <a:r>
              <a:rPr lang="en-US" sz="1600" b="1" i="1">
                <a:latin typeface="Times New Roman" panose="02020603050405020304"/>
                <a:ea typeface="Aptos"/>
              </a:rPr>
              <a:t> </a:t>
            </a:r>
            <a:r>
              <a:rPr sz="1600" b="1" i="1">
                <a:latin typeface="Times New Roman" panose="02020603050405020304"/>
                <a:ea typeface="Aptos"/>
              </a:rPr>
              <a:t>Chest Pain Type (cp) Distribution by Target Variable</a:t>
            </a:r>
            <a:endParaRPr sz="1600" b="1" i="1">
              <a:latin typeface="Times New Roman" panose="02020603050405020304"/>
              <a:ea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Logistic Regression Model Performance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75485"/>
            <a:ext cx="8229600" cy="4150995"/>
          </a:xfrm>
        </p:spPr>
        <p:txBody>
          <a:bodyPr>
            <a:noAutofit/>
          </a:bodyPr>
          <a:p>
            <a:endParaRPr lang="en-US" altLang="en-US" sz="1300" b="1"/>
          </a:p>
          <a:p>
            <a:endParaRPr lang="en-US" altLang="en-US" sz="1300" b="1"/>
          </a:p>
          <a:p>
            <a:endParaRPr lang="en-US" altLang="en-US" sz="1300" b="1"/>
          </a:p>
          <a:p>
            <a:endParaRPr lang="en-US" altLang="en-US" sz="1300" b="1"/>
          </a:p>
          <a:p>
            <a:endParaRPr lang="en-US" altLang="en-US" sz="1300" b="1"/>
          </a:p>
          <a:p>
            <a:endParaRPr lang="en-US" altLang="en-US" sz="1300" b="1"/>
          </a:p>
          <a:p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endParaRPr lang="en-US" altLang="en-US" sz="1300" b="1"/>
          </a:p>
          <a:p>
            <a:pPr marL="0" indent="0">
              <a:buNone/>
            </a:pPr>
            <a:r>
              <a:rPr lang="en-US" altLang="en-US" sz="1300" b="1"/>
              <a:t>                                                                     ROC Curve for Logistic Regression Model</a:t>
            </a:r>
            <a:endParaRPr lang="en-US" altLang="en-US" sz="1300" b="1"/>
          </a:p>
        </p:txBody>
      </p:sp>
      <p:pic>
        <p:nvPicPr>
          <p:cNvPr id="1245482227" name="Picture 21" descr="A graph of a logistic regression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30" y="1422400"/>
            <a:ext cx="6962775" cy="441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Feature Importance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1518259902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55" y="1809115"/>
            <a:ext cx="7197725" cy="35960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90.16%</a:t>
            </a:r>
          </a:p>
          <a:p>
            <a:r>
              <a:t>Precision: 93.33%</a:t>
            </a:r>
          </a:p>
          <a:p>
            <a:r>
              <a:t>Recall: 87.50%</a:t>
            </a:r>
          </a:p>
          <a:p>
            <a:r>
              <a:t>F1 Score: 90.32%</a:t>
            </a:r>
          </a:p>
          <a:p>
            <a:r>
              <a:t>ROC-AUC Score: 94.18%</a:t>
            </a:r>
          </a:p>
          <a:p>
            <a:r>
              <a:t>Feature Importance: Thalach, cp_3, ca_2 were the most influential predictors.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975" y="1774190"/>
            <a:ext cx="45694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Key Insights:</a:t>
            </a:r>
            <a:endParaRPr sz="2400"/>
          </a:p>
          <a:p>
            <a:r>
              <a:rPr sz="2400"/>
              <a:t>halach (Max Heart Rate) and Oldpeak are strong indicators.</a:t>
            </a:r>
            <a:endParaRPr sz="2400"/>
          </a:p>
          <a:p>
            <a:r>
              <a:rPr sz="2400"/>
              <a:t>Logistic Regression is effective in binary classification problems.</a:t>
            </a:r>
            <a:endParaRPr sz="2400"/>
          </a:p>
          <a:p>
            <a:endParaRPr sz="2400"/>
          </a:p>
          <a:p>
            <a:r>
              <a:rPr sz="2400"/>
              <a:t>Future Scope:</a:t>
            </a:r>
            <a:endParaRPr sz="2400"/>
          </a:p>
          <a:p>
            <a:r>
              <a:rPr sz="2400"/>
              <a:t>Use advanced models like Random Forest, XGBoost.</a:t>
            </a:r>
            <a:endParaRPr sz="2400"/>
          </a:p>
          <a:p>
            <a:r>
              <a:rPr sz="2400"/>
              <a:t>Deploy a real-time heart disease prediction </a:t>
            </a:r>
            <a:r>
              <a:rPr sz="2400"/>
              <a:t>system.</a:t>
            </a:r>
            <a:endParaRPr sz="2400"/>
          </a:p>
          <a:p>
            <a:r>
              <a:rPr sz="2400"/>
              <a:t>Integrate more clinical and lifestyle features.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successfully predicts heart disease with high accuracy.</a:t>
            </a:r>
          </a:p>
          <a:p>
            <a:r>
              <a:t>Key predictors include Thalach, Chest Pain Type, and Oldpeak.</a:t>
            </a:r>
          </a:p>
          <a:p>
            <a:r>
              <a:t>Future improvements involve adding more features and using advanced models.</a:t>
            </a:r>
          </a:p>
          <a:p>
            <a:r>
              <a:t>This research can aid in early detection and intervention of cardiovascular diseases.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2286</Words>
  <Application>WPS Presentation</Application>
  <PresentationFormat>On-screen Show (4:3)</PresentationFormat>
  <Paragraphs>110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Times New Roman</vt:lpstr>
      <vt:lpstr>Aptos</vt:lpstr>
      <vt:lpstr>Segoe Print</vt:lpstr>
      <vt:lpstr>Calibri</vt:lpstr>
      <vt:lpstr>Microsoft YaHei</vt:lpstr>
      <vt:lpstr>Arial Unicode MS</vt:lpstr>
      <vt:lpstr>Orange Waves</vt:lpstr>
      <vt:lpstr>Heart Disease Prediction Using Logistic Regression</vt:lpstr>
      <vt:lpstr>Introduction</vt:lpstr>
      <vt:lpstr>Scope of Analysis</vt:lpstr>
      <vt:lpstr>ETL Process &amp; Data Preprocessing</vt:lpstr>
      <vt:lpstr>Correlation Heatmap</vt:lpstr>
      <vt:lpstr>Target Variable Distribution</vt:lpstr>
      <vt:lpstr>Categorical Feature Distributions</vt:lpstr>
      <vt:lpstr>Logistic Regression Model Performance</vt:lpstr>
      <vt:lpstr>Feature Importance</vt:lpstr>
      <vt:lpstr>Model Performance</vt:lpstr>
      <vt:lpstr>Key Insights &amp; 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Ahsan Computer</cp:lastModifiedBy>
  <cp:revision>5</cp:revision>
  <dcterms:created xsi:type="dcterms:W3CDTF">2013-01-27T09:14:00Z</dcterms:created>
  <dcterms:modified xsi:type="dcterms:W3CDTF">2025-02-08T19:42:28Z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0B0CD872C0C04929A86DAF3459885A99_12</vt:lpwstr>
  </property>
  <property fmtid="{D5CDD505-2E9C-101B-9397-08002B2CF9AE}" pid="3" name="KSOProductBuildVer">
    <vt:lpwstr>1033-12.2.0.19805</vt:lpwstr>
  </property>
</Properties>
</file>